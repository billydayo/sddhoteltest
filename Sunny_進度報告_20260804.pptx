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965960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132"/>
                </a:solidFill>
                <a:latin typeface="Microsoft JhengHei"/>
              </a:rPr>
              <a:t>SUNNY 訂房平台 ｜ 開發進度報告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32304"/>
            <a:ext cx="9509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800" b="1">
                <a:solidFill>
                  <a:srgbClr val="1E221F"/>
                </a:solidFill>
                <a:latin typeface="Microsoft JhengHei"/>
              </a:rPr>
              <a:t>一日完成前後端全面重構</a:t>
            </a:r>
          </a:p>
          <a:p>
            <a:pPr algn="l">
              <a:lnSpc>
                <a:spcPct val="122000"/>
              </a:lnSpc>
            </a:pPr>
            <a:r>
              <a:rPr sz="3800" b="1">
                <a:solidFill>
                  <a:srgbClr val="1E221F"/>
                </a:solidFill>
                <a:latin typeface="Microsoft JhengHei"/>
              </a:rPr>
              <a:t>並交付五大用戶故事與後台十二模組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33087"/>
            <a:ext cx="1828800" cy="41148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371600" y="4498848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3706B"/>
                </a:solidFill>
                <a:latin typeface="Microsoft JhengHei"/>
              </a:rPr>
              <a:t>36 次提交　·　281 個檔案　·　新增 46,756 行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63706B"/>
                </a:solidFill>
                <a:latin typeface="Microsoft JhengHei"/>
              </a:rPr>
              <a:t>任務完成度 192／197（97.5%）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06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報告日期：2026 年 8 月 4 日（週二）　開發區間 11:05 – 16:42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6132"/>
                </a:solidFill>
                <a:latin typeface="Microsoft JhengHei"/>
              </a:rPr>
              <a:t>01　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4980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21F"/>
                </a:solidFill>
                <a:latin typeface="Microsoft JhengHei"/>
              </a:rPr>
              <a:t>今日成果一覽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2512314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2512314" cy="68580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251231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7A6132"/>
                </a:solidFill>
                <a:latin typeface="Microsoft JhengHe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15184"/>
            <a:ext cx="25123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21F"/>
                </a:solidFill>
                <a:latin typeface="Microsoft JhengHei"/>
              </a:rPr>
              <a:t>次提交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44368"/>
            <a:ext cx="25123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11:05 – 16:42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4146" y="1572768"/>
            <a:ext cx="2512314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454146" y="1572768"/>
            <a:ext cx="2512314" cy="68580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54146" y="1938528"/>
            <a:ext cx="251231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7A6132"/>
                </a:solidFill>
                <a:latin typeface="Microsoft JhengHei"/>
              </a:rPr>
              <a:t>46,756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4146" y="2615184"/>
            <a:ext cx="25123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21F"/>
                </a:solidFill>
                <a:latin typeface="Microsoft JhengHei"/>
              </a:rPr>
              <a:t>行新增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146" y="2944368"/>
            <a:ext cx="25123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281 個檔案異動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2" y="1572768"/>
            <a:ext cx="2512314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22492" y="1572768"/>
            <a:ext cx="2512314" cy="68580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22492" y="1938528"/>
            <a:ext cx="251231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7A6132"/>
                </a:solidFill>
                <a:latin typeface="Microsoft JhengHei"/>
              </a:rPr>
              <a:t>192／197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2492" y="2615184"/>
            <a:ext cx="25123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21F"/>
                </a:solidFill>
                <a:latin typeface="Microsoft JhengHei"/>
              </a:rPr>
              <a:t>任務完成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2492" y="2944368"/>
            <a:ext cx="25123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完成度 97.5%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0838" y="1572768"/>
            <a:ext cx="2512314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990838" y="1572768"/>
            <a:ext cx="2512314" cy="68580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90838" y="1938528"/>
            <a:ext cx="251231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7A6132"/>
                </a:solidFill>
                <a:latin typeface="Microsoft JhengHei"/>
              </a:rPr>
              <a:t>809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0838" y="2615184"/>
            <a:ext cx="25123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221F"/>
                </a:solidFill>
                <a:latin typeface="Microsoft JhengHei"/>
              </a:rPr>
              <a:t>項測試通過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0838" y="2944368"/>
            <a:ext cx="25123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前端 506 ＋ 後端 303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3931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工作內容分佈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7822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後端　FastAPI ＋ SQLAlchemy ＋ Alembic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4041648"/>
            <a:ext cx="5486400" cy="27432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029200" y="4041648"/>
            <a:ext cx="5221539" cy="274320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625328" y="4069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706B"/>
                </a:solidFill>
                <a:latin typeface="Microsoft JhengHei"/>
              </a:rPr>
              <a:t>138 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171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前端　React 19 ＋ Vite 8 ＋ TypeScript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80560"/>
            <a:ext cx="5486400" cy="27432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029200" y="4480560"/>
            <a:ext cx="4805329" cy="274320"/>
          </a:xfrm>
          <a:prstGeom prst="rect">
            <a:avLst/>
          </a:prstGeom>
          <a:solidFill>
            <a:srgbClr val="A88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625328" y="45079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706B"/>
                </a:solidFill>
                <a:latin typeface="Microsoft JhengHei"/>
              </a:rPr>
              <a:t>127 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9560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規格文件　spec／tasks／quickstart／驗收清單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4919472"/>
            <a:ext cx="5486400" cy="27432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029200" y="4919472"/>
            <a:ext cx="227023" cy="274320"/>
          </a:xfrm>
          <a:prstGeom prst="rect">
            <a:avLst/>
          </a:prstGeom>
          <a:solidFill>
            <a:srgbClr val="C9B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625328" y="49469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706B"/>
                </a:solidFill>
                <a:latin typeface="Microsoft JhengHei"/>
              </a:rPr>
              <a:t>6 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3949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舊實作清理與品牌資產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5358384"/>
            <a:ext cx="5486400" cy="274320"/>
          </a:xfrm>
          <a:prstGeom prst="rect">
            <a:avLst/>
          </a:prstGeom>
          <a:solidFill>
            <a:srgbClr val="E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029200" y="5358384"/>
            <a:ext cx="378372" cy="274320"/>
          </a:xfrm>
          <a:prstGeom prst="rect">
            <a:avLst/>
          </a:prstGeom>
          <a:solidFill>
            <a:srgbClr val="DE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625328" y="538581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706B"/>
                </a:solidFill>
                <a:latin typeface="Microsoft JhengHei"/>
              </a:rPr>
              <a:t>10 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978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※ 所有數字取自當日 git 紀錄與實際執行的測試套件，非估算值。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3276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Sunny 訂房平台 ｜ 2026-08-04 進度報告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327648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6132"/>
                </a:solidFill>
                <a:latin typeface="Microsoft JhengHei"/>
              </a:rPr>
              <a:t>02　關鍵決策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4980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21F"/>
                </a:solidFill>
                <a:latin typeface="Microsoft JhengHei"/>
              </a:rPr>
              <a:t>架構全面遷移：由前端直連資料庫改為三層架構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4937760" cy="2212848"/>
          </a:xfrm>
          <a:prstGeom prst="roundRect">
            <a:avLst>
              <a:gd name="adj" fmla="val 6000"/>
            </a:avLst>
          </a:prstGeom>
          <a:solidFill>
            <a:srgbClr val="F7F3F3"/>
          </a:solidFill>
          <a:ln w="12700">
            <a:solidFill>
              <a:srgbClr val="E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34A3A"/>
                </a:solidFill>
                <a:latin typeface="Microsoft JhengHei"/>
              </a:rPr>
              <a:t>遷移前（已淘汰）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480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零建置前端　→　Supabase REST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· 瀏覽器以 anon key 直連資料庫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· 全部防護僅倚賴 RLS 政策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· 業務規則寫在前端，可被繞過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79008" y="2487168"/>
            <a:ext cx="640080" cy="384048"/>
          </a:xfrm>
          <a:prstGeom prst="rightArrow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74536" y="1572768"/>
            <a:ext cx="4937760" cy="2212848"/>
          </a:xfrm>
          <a:prstGeom prst="roundRect">
            <a:avLst>
              <a:gd name="adj" fmla="val 6000"/>
            </a:avLst>
          </a:prstGeom>
          <a:solidFill>
            <a:srgbClr val="F6F2E9"/>
          </a:solidFill>
          <a:ln w="12700">
            <a:solidFill>
              <a:srgbClr val="7A6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48856" y="17830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6132"/>
                </a:solidFill>
                <a:latin typeface="Microsoft JhengHei"/>
              </a:rPr>
              <a:t>遷移後（現行）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2148840"/>
            <a:ext cx="44805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React 前端　→　FastAPI　→　PostgreSQL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· 資料庫只有一個存取者：後端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· anon／authenticated 權限全數收回</a:t>
            </a:r>
          </a:p>
          <a:p>
            <a:pPr algn="l">
              <a:lnSpc>
                <a:spcPct val="142000"/>
              </a:lnSpc>
            </a:pPr>
            <a:r>
              <a:rPr sz="1300" b="0">
                <a:solidFill>
                  <a:srgbClr val="1E221F"/>
                </a:solidFill>
                <a:latin typeface="Microsoft JhengHei"/>
              </a:rPr>
              <a:t>· 業務規則與授權一律在伺服器端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4164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帶來的三項實質效益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517136"/>
            <a:ext cx="50292" cy="310896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444398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21F"/>
                </a:solidFill>
                <a:latin typeface="Microsoft JhengHei"/>
              </a:rPr>
              <a:t>憑證不再外流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45770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秘鑰只存在後端環境變數；已驗證建置產物中憑證數為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992624"/>
            <a:ext cx="50292" cy="310896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6112" y="49194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21F"/>
                </a:solidFill>
                <a:latin typeface="Microsoft JhengHei"/>
              </a:rPr>
              <a:t>房況不會超賣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93318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以 PostgreSQL 排除約束（EXCLUDE USING gist）在資料庫層擋下重複訂房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468112"/>
            <a:ext cx="50292" cy="310896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6112" y="5394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21F"/>
                </a:solidFill>
                <a:latin typeface="Microsoft JhengHei"/>
              </a:rPr>
              <a:t>每筆異動可稽核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408676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後台操作寫入唯讀稽核日誌，資料庫層強制僅可新增不可竄改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76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Sunny 訂房平台 ｜ 2026-08-04 進度報告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27648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6132"/>
                </a:solidFill>
                <a:latin typeface="Microsoft JhengHei"/>
              </a:rPr>
              <a:t>03　交付範圍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4980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21F"/>
                </a:solidFill>
                <a:latin typeface="Microsoft JhengHei"/>
              </a:rPr>
              <a:t>本日交付：前台五大用戶故事 ＋ 後台十二模組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6132"/>
                </a:solidFill>
                <a:latin typeface="Microsoft JhengHei"/>
              </a:rPr>
              <a:t>前台　顧客端流程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38528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68680" y="2075688"/>
            <a:ext cx="566928" cy="292608"/>
          </a:xfrm>
          <a:prstGeom prst="roundRect">
            <a:avLst>
              <a:gd name="adj" fmla="val 30000"/>
            </a:avLst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107692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US1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1076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房源搜尋、逐日房態與房源詳情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96896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68680" y="2734056"/>
            <a:ext cx="566928" cy="292608"/>
          </a:xfrm>
          <a:prstGeom prst="roundRect">
            <a:avLst>
              <a:gd name="adj" fmla="val 30000"/>
            </a:avLst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76606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US2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7660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註冊、登入、Google 第三方登入與帳戶設定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55264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68680" y="3392424"/>
            <a:ext cx="566928" cy="292608"/>
          </a:xfrm>
          <a:prstGeom prst="roundRect">
            <a:avLst>
              <a:gd name="adj" fmla="val 30000"/>
            </a:avLst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42442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US3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244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三步驟訂房、模擬付款與逾期自動釋出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13632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68680" y="4050792"/>
            <a:ext cx="566928" cy="292608"/>
          </a:xfrm>
          <a:prstGeom prst="roundRect">
            <a:avLst>
              <a:gd name="adj" fmla="val 30000"/>
            </a:avLst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4082796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US4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08279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我的訂單、訂單取消與退款申請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72000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68680" y="4709160"/>
            <a:ext cx="566928" cy="292608"/>
          </a:xfrm>
          <a:prstGeom prst="roundRect">
            <a:avLst>
              <a:gd name="adj" fmla="val 30000"/>
            </a:avLst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4741164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US5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74116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撰寫評論、規則式自動審核與業者回覆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361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6132"/>
                </a:solidFill>
                <a:latin typeface="Microsoft JhengHei"/>
              </a:rPr>
              <a:t>後台　管理端模組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938528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0" y="2112264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營運儀表板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938528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38160" y="2112264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房源管理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1938528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875520" y="2112264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訂單管理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596896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0" y="2770632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退款審核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596896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138160" y="2770632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評論審核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2596896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875520" y="2770632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會員管理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255264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0" y="3429000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訊息中心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3255264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38160" y="3429000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稽核日誌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3255264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75520" y="3429000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渠道比價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913632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0" y="4087368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風險偵測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3913632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38160" y="4087368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內容管理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75520" y="3913632"/>
            <a:ext cx="1636776" cy="566928"/>
          </a:xfrm>
          <a:prstGeom prst="roundRect">
            <a:avLst>
              <a:gd name="adj" fmla="val 10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875520" y="4087368"/>
            <a:ext cx="1636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系統設定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6177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十二個模組由第二開發線平行產出，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當日併入主線並收斂重複實作。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5358384"/>
            <a:ext cx="10817352" cy="749808"/>
          </a:xfrm>
          <a:prstGeom prst="roundRect">
            <a:avLst>
              <a:gd name="adj" fmla="val 6000"/>
            </a:avLst>
          </a:prstGeom>
          <a:solidFill>
            <a:srgbClr val="F6F2E9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60120" y="5541264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後端共 21 組 API 路由（9 組顧客端 ＋ 12 組管理端）；前端共 44 個頁面元件，全站文字為繁體中文、金額為新臺幣整數。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3276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Sunny 訂房平台 ｜ 2026-08-04 進度報告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327648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6132"/>
                </a:solidFill>
                <a:latin typeface="Microsoft JhengHei"/>
              </a:rPr>
              <a:t>04　品質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4980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21F"/>
                </a:solidFill>
                <a:latin typeface="Microsoft JhengHei"/>
              </a:rPr>
              <a:t>品質驗證結果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529584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181051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706B"/>
                </a:solidFill>
                <a:latin typeface="Microsoft JhengHei"/>
              </a:rPr>
              <a:t>前端測試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76272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E6B4F"/>
                </a:solidFill>
                <a:latin typeface="Microsoft JhengHei"/>
              </a:rPr>
              <a:t>506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79776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21F"/>
                </a:solidFill>
                <a:latin typeface="Microsoft JhengHei"/>
              </a:rPr>
              <a:t>項全數通過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54096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32 個測試檔　·　Vitest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572768"/>
            <a:ext cx="3529584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181051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706B"/>
                </a:solidFill>
                <a:latin typeface="Microsoft JhengHei"/>
              </a:rPr>
              <a:t>後端測試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76272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B26A1F"/>
                </a:solidFill>
                <a:latin typeface="Microsoft JhengHei"/>
              </a:rPr>
              <a:t>303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79776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21F"/>
                </a:solidFill>
                <a:latin typeface="Microsoft JhengHei"/>
              </a:rPr>
              <a:t>項全數通過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54096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另有 280 項未執行（見次頁）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572768"/>
            <a:ext cx="3529584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38744" y="1810512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706B"/>
                </a:solidFill>
                <a:latin typeface="Microsoft JhengHei"/>
              </a:rPr>
              <a:t>環境驗證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176272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E6B4F"/>
                </a:solidFill>
                <a:latin typeface="Microsoft JhengHei"/>
              </a:rPr>
              <a:t>27／27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779776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221F"/>
                </a:solidFill>
                <a:latin typeface="Microsoft JhengHei"/>
              </a:rPr>
              <a:t>情境通過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054096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quickstart V1–V8 實跑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210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另完成六項機器可判定的稽核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" y="410108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402336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21F"/>
                </a:solidFill>
                <a:latin typeface="Microsoft JhengHei"/>
              </a:rPr>
              <a:t>無障礙與鍵盤操作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" y="4261104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3706B"/>
                </a:solidFill>
                <a:latin typeface="Microsoft JhengHei"/>
              </a:rPr>
              <a:t>語意化標籤、圖片替代文字、表單標籤關聯；訂房流程可純鍵盤完成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07822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72200" y="410108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21F"/>
                </a:solidFill>
                <a:latin typeface="Microsoft JhengHei"/>
              </a:rPr>
              <a:t>色彩對比度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4261104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3706B"/>
                </a:solidFill>
                <a:latin typeface="Microsoft JhengHei"/>
              </a:rPr>
              <a:t>每個承載文字的顏色皆達 WCAG AA，並更正品牌色為 #7A6132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8172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4704588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" y="462686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21F"/>
                </a:solidFill>
                <a:latin typeface="Microsoft JhengHei"/>
              </a:rPr>
              <a:t>前端網路出口單一化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" y="4864608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3706B"/>
                </a:solidFill>
                <a:latin typeface="Microsoft JhengHei"/>
              </a:rPr>
              <a:t>除 api/client.ts 外全站無任何直接 fetch 呼叫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68172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172200" y="4704588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62686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21F"/>
                </a:solidFill>
                <a:latin typeface="Microsoft JhengHei"/>
              </a:rPr>
              <a:t>後端分層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4864608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3706B"/>
                </a:solidFill>
                <a:latin typeface="Microsoft JhengHei"/>
              </a:rPr>
              <a:t>資料存取一律經 repositories，路由層無裸 SQL 與 ORM 查詢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28523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530809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" y="52303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21F"/>
                </a:solidFill>
                <a:latin typeface="Microsoft JhengHei"/>
              </a:rPr>
              <a:t>秘鑰外洩檢查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" y="5468112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3706B"/>
                </a:solidFill>
                <a:latin typeface="Microsoft JhengHei"/>
              </a:rPr>
              <a:t>版控與前端建置產物中的憑證數為 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28523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172200" y="530809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52303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221F"/>
                </a:solidFill>
                <a:latin typeface="Microsoft JhengHei"/>
              </a:rPr>
              <a:t>靜態品質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5468112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3706B"/>
                </a:solidFill>
                <a:latin typeface="Microsoft JhengHei"/>
              </a:rPr>
              <a:t>ruff check／format、ESLint、TypeScript strict 全數零錯誤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3276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Sunny 訂房平台 ｜ 2026-08-04 進度報告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27648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6132"/>
                </a:solidFill>
                <a:latin typeface="Microsoft JhengHei"/>
              </a:rPr>
              <a:t>05　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4980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21F"/>
                </a:solidFill>
                <a:latin typeface="Microsoft JhengHei"/>
              </a:rPr>
              <a:t>尚未完成的項目與需要留意的風險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17904"/>
            <a:ext cx="10817352" cy="13716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8C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517904"/>
            <a:ext cx="68580" cy="1371600"/>
          </a:xfrm>
          <a:prstGeom prst="rect">
            <a:avLst/>
          </a:prstGeom>
          <a:solidFill>
            <a:srgbClr val="B2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71907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26A1F"/>
                </a:solidFill>
                <a:latin typeface="Microsoft JhengHei"/>
              </a:rPr>
              <a:t>最需要留意：後端有 280 項測試並未實際執行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66543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這些測試驗證的是房況不重疊等倚賴真實 PostgreSQL 的核心保證。因測試資料庫連線字串尚未設定，它們被自動略過，而略過在報表上同樣顯示為綠色。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21F"/>
                </a:solidFill>
                <a:latin typeface="Microsoft JhengHei"/>
              </a:rPr>
              <a:t>目前實際被驗證的是 303／583 項（52%）。建議上線前優先補齊測試資料庫。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54096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五項未完成任務（197 項中的 5 項）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56432"/>
            <a:ext cx="10817352" cy="4937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68680" y="3575304"/>
            <a:ext cx="658368" cy="274320"/>
          </a:xfrm>
          <a:prstGeom prst="roundRect">
            <a:avLst>
              <a:gd name="adj" fmla="val 30000"/>
            </a:avLst>
          </a:prstGeom>
          <a:solidFill>
            <a:srgbClr val="B2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360730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T066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60273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1F"/>
                </a:solidFill>
                <a:latin typeface="Microsoft JhengHei"/>
              </a:rPr>
              <a:t>Google OAuth 正式憑證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60730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尚未於 Google Cloud Console 建立正式 client，登入往返待以真實帳號驗證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05072"/>
            <a:ext cx="10817352" cy="4937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68680" y="4123944"/>
            <a:ext cx="658368" cy="274320"/>
          </a:xfrm>
          <a:prstGeom prst="roundRect">
            <a:avLst>
              <a:gd name="adj" fmla="val 30000"/>
            </a:avLst>
          </a:prstGeom>
          <a:solidFill>
            <a:srgbClr val="B2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15594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T142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1513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1F"/>
                </a:solidFill>
                <a:latin typeface="Microsoft JhengHei"/>
              </a:rPr>
              <a:t>首頁滿版主視覺與內容管理頁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15594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前台首頁視覺與後台 Content 頁面待完成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53712"/>
            <a:ext cx="10817352" cy="4937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68680" y="4672584"/>
            <a:ext cx="658368" cy="274320"/>
          </a:xfrm>
          <a:prstGeom prst="roundRect">
            <a:avLst>
              <a:gd name="adj" fmla="val 30000"/>
            </a:avLst>
          </a:prstGeom>
          <a:solidFill>
            <a:srgbClr val="B2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70458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T172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70001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1F"/>
                </a:solidFill>
                <a:latin typeface="Microsoft JhengHei"/>
              </a:rPr>
              <a:t>響應式稽核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0458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320px–1920px 需人眼確認無橫向捲動與內容重疊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02352"/>
            <a:ext cx="10817352" cy="4937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68680" y="5221224"/>
            <a:ext cx="658368" cy="274320"/>
          </a:xfrm>
          <a:prstGeom prst="roundRect">
            <a:avLst>
              <a:gd name="adj" fmla="val 30000"/>
            </a:avLst>
          </a:prstGeom>
          <a:solidFill>
            <a:srgbClr val="B2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525322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T181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24865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1F"/>
                </a:solidFill>
                <a:latin typeface="Microsoft JhengHei"/>
              </a:rPr>
              <a:t>全頁面走訪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2532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需確認瀏覽器 console 零錯誤、後端日誌無未處理例外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50992"/>
            <a:ext cx="10817352" cy="4937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68680" y="5769864"/>
            <a:ext cx="658368" cy="274320"/>
          </a:xfrm>
          <a:prstGeom prst="roundRect">
            <a:avLst>
              <a:gd name="adj" fmla="val 30000"/>
            </a:avLst>
          </a:prstGeom>
          <a:solidFill>
            <a:srgbClr val="B2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5801868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T183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7972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21F"/>
                </a:solidFill>
                <a:latin typeface="Microsoft JhengHei"/>
              </a:rPr>
              <a:t>移除舊實作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80186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3706B"/>
                </a:solidFill>
                <a:latin typeface="Microsoft JhengHei"/>
              </a:rPr>
              <a:t>待驗收清單全數通過後，刪除根目錄舊前端與過渡用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3276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Sunny 訂房平台 ｜ 2026-08-04 進度報告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327648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32688" y="5029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6132"/>
                </a:solidFill>
                <a:latin typeface="Microsoft JhengHei"/>
              </a:rPr>
              <a:t>06　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4980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221F"/>
                </a:solidFill>
                <a:latin typeface="Microsoft JhengHei"/>
              </a:rPr>
              <a:t>後續工作與時程建議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914400"/>
          </a:xfrm>
          <a:prstGeom prst="rect">
            <a:avLst/>
          </a:prstGeom>
          <a:solidFill>
            <a:srgbClr val="7A6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17922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6132"/>
                </a:solidFill>
                <a:latin typeface="Microsoft JhengHei"/>
              </a:rPr>
              <a:t>第一優先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補齊測試資料庫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83664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設定 SUNNY_TEST_DATABASE_URL，讓 280 項核心測試真正執行；這是判斷「不會超賣」是否成立的唯一依據。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68580" cy="914400"/>
          </a:xfrm>
          <a:prstGeom prst="rect">
            <a:avLst/>
          </a:prstGeom>
          <a:solidFill>
            <a:srgbClr val="A88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28163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88C55"/>
                </a:solidFill>
                <a:latin typeface="Microsoft JhengHei"/>
              </a:rPr>
              <a:t>第二優先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完成人眼驗收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07792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響應式稽核（T172）、全頁面走訪（T181）與瀏覽器驗收清單，兩者都無法自動化，需安排實機操作。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75888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3675888"/>
            <a:ext cx="68580" cy="914400"/>
          </a:xfrm>
          <a:prstGeom prst="rect">
            <a:avLst/>
          </a:prstGeom>
          <a:solidFill>
            <a:srgbClr val="C9B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B88E"/>
                </a:solidFill>
                <a:latin typeface="Microsoft JhengHei"/>
              </a:rPr>
              <a:t>第三優先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串接正式 Google OAuth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93192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申請正式憑證並以真實帳號完成登入往返（T066）。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0016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85800" y="4700016"/>
            <a:ext cx="68580" cy="914400"/>
          </a:xfrm>
          <a:prstGeom prst="rect">
            <a:avLst/>
          </a:prstGeom>
          <a:solidFill>
            <a:srgbClr val="DE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4864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ED6C4"/>
                </a:solidFill>
                <a:latin typeface="Microsoft JhengHei"/>
              </a:rPr>
              <a:t>收尾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5721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E221F"/>
                </a:solidFill>
                <a:latin typeface="Microsoft JhengHei"/>
              </a:rPr>
              <a:t>移除舊實作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956048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3706B"/>
                </a:solidFill>
                <a:latin typeface="Microsoft JhengHei"/>
              </a:rPr>
              <a:t>驗收全數通過後刪除根目錄舊前端（T183），使專案僅存單一架構。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742432"/>
            <a:ext cx="10817352" cy="438912"/>
          </a:xfrm>
          <a:prstGeom prst="roundRect">
            <a:avLst>
              <a:gd name="adj" fmla="val 8000"/>
            </a:avLst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05840" y="5843016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A6132"/>
                </a:solidFill>
                <a:latin typeface="Microsoft JhengHei"/>
              </a:rPr>
              <a:t>整體評估：功能面已達 97.5% 完成度，剩餘工作集中在「驗證」而非「開發」。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Sunny 訂房平台 ｜ 2026-08-04 進度報告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27648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3706B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